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66" r:id="rId4"/>
    <p:sldId id="258" r:id="rId5"/>
    <p:sldId id="259" r:id="rId6"/>
    <p:sldId id="260" r:id="rId7"/>
    <p:sldId id="264" r:id="rId8"/>
    <p:sldId id="265" r:id="rId9"/>
    <p:sldId id="267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1" d="100"/>
          <a:sy n="61" d="100"/>
        </p:scale>
        <p:origin x="792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364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5D349-8495-9D75-CBC9-1DED56F64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E69E5-114A-846E-A646-0E71A9A0FB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2C7410-31D1-C3F1-AA42-E8A2CC8B58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2922E9-A9DD-13BC-F1C0-7EE79A854B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216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57AD0-4364-5726-D4A5-0CFFC2F10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E41AD2-FC0D-57C7-3BEF-4DB75F3D2F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968E4B-FC12-15B4-007B-513F468144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50013A-21AC-1799-A319-44DE7C8057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4701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rumiandoweb.netlify.app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F6B4B">
              <a:alpha val="0"/>
            </a:srgbClr>
          </a:solidFill>
          <a:ln w="12700">
            <a:solidFill>
              <a:srgbClr val="3F6B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Shape 1"/>
          <p:cNvSpPr/>
          <p:nvPr/>
        </p:nvSpPr>
        <p:spPr>
          <a:xfrm>
            <a:off x="594360" y="685800"/>
            <a:ext cx="10972800" cy="5212080"/>
          </a:xfrm>
          <a:prstGeom prst="roundRect">
            <a:avLst>
              <a:gd name="adj" fmla="val 1404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4" name="Text 2"/>
          <p:cNvSpPr/>
          <p:nvPr/>
        </p:nvSpPr>
        <p:spPr>
          <a:xfrm>
            <a:off x="914400" y="1409268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4400" b="1" noProof="0" dirty="0" err="1">
                <a:solidFill>
                  <a:srgbClr val="3F6B4B"/>
                </a:solidFill>
              </a:rPr>
              <a:t>RumiAndo</a:t>
            </a:r>
            <a:endParaRPr lang="es-ES" sz="4400" noProof="0" dirty="0"/>
          </a:p>
        </p:txBody>
      </p:sp>
      <p:sp>
        <p:nvSpPr>
          <p:cNvPr id="5" name="Text 3"/>
          <p:cNvSpPr/>
          <p:nvPr/>
        </p:nvSpPr>
        <p:spPr>
          <a:xfrm>
            <a:off x="914400" y="2659619"/>
            <a:ext cx="3907766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233127"/>
                </a:solidFill>
              </a:rPr>
              <a:t>Demo web para gestión ganadera y visualización de datos</a:t>
            </a:r>
            <a:endParaRPr lang="es-ES" sz="2800" noProof="0" dirty="0"/>
          </a:p>
        </p:txBody>
      </p:sp>
      <p:sp>
        <p:nvSpPr>
          <p:cNvPr id="6" name="Text 4"/>
          <p:cNvSpPr/>
          <p:nvPr/>
        </p:nvSpPr>
        <p:spPr>
          <a:xfrm>
            <a:off x="914400" y="4527621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800" noProof="0" dirty="0">
                <a:solidFill>
                  <a:srgbClr val="5F6F63"/>
                </a:solidFill>
              </a:rPr>
              <a:t>Presentación del proyecto</a:t>
            </a:r>
            <a:endParaRPr lang="es-ES" sz="1800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4931721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000" b="1" noProof="0" dirty="0">
                <a:solidFill>
                  <a:srgbClr val="233127"/>
                </a:solidFill>
              </a:rPr>
              <a:t>Marco Monzón</a:t>
            </a:r>
            <a:endParaRPr lang="es-ES" sz="2000" noProof="0" dirty="0"/>
          </a:p>
        </p:txBody>
      </p:sp>
      <p:sp>
        <p:nvSpPr>
          <p:cNvPr id="11" name="Text 9"/>
          <p:cNvSpPr/>
          <p:nvPr/>
        </p:nvSpPr>
        <p:spPr>
          <a:xfrm>
            <a:off x="594360" y="64008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 err="1">
                <a:solidFill>
                  <a:srgbClr val="5F6F63"/>
                </a:solidFill>
              </a:rPr>
              <a:t>RumiAndo</a:t>
            </a:r>
            <a:r>
              <a:rPr lang="es-ES" sz="1000" noProof="0" dirty="0">
                <a:solidFill>
                  <a:srgbClr val="5F6F63"/>
                </a:solidFill>
              </a:rPr>
              <a:t> · Demo académica en </a:t>
            </a:r>
            <a:r>
              <a:rPr lang="es-ES" sz="1000" noProof="0" dirty="0" err="1">
                <a:solidFill>
                  <a:srgbClr val="5F6F63"/>
                </a:solidFill>
              </a:rPr>
              <a:t>React</a:t>
            </a:r>
            <a:endParaRPr lang="es-ES" sz="1000" noProof="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EAA753EA-A6A6-344B-6D9F-C9AC9876F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3249" y="1325880"/>
            <a:ext cx="6103620" cy="4069080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F6B4B">
              <a:alpha val="0"/>
            </a:srgbClr>
          </a:solidFill>
          <a:ln w="12700">
            <a:solidFill>
              <a:srgbClr val="3F6B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4114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noProof="0" dirty="0">
                <a:solidFill>
                  <a:srgbClr val="3F6B4B"/>
                </a:solidFill>
              </a:rPr>
              <a:t>PUNTO DE PARTIDA</a:t>
            </a:r>
            <a:endParaRPr lang="es-ES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233127"/>
                </a:solidFill>
              </a:rPr>
              <a:t>El problema que intenta abordar</a:t>
            </a:r>
            <a:endParaRPr lang="es-ES" sz="28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6281755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s-ES" sz="2000" noProof="0" dirty="0">
                <a:solidFill>
                  <a:srgbClr val="233127"/>
                </a:solidFill>
              </a:rPr>
              <a:t>Ofrecer soporte digital a explotaciones de ovino y caprino.</a:t>
            </a:r>
          </a:p>
          <a:p>
            <a:pPr marL="203200" indent="-203200">
              <a:buSzPct val="100000"/>
              <a:buChar char="•"/>
            </a:pPr>
            <a:endParaRPr lang="es-ES" sz="2000" dirty="0">
              <a:solidFill>
                <a:srgbClr val="233127"/>
              </a:solidFill>
            </a:endParaRPr>
          </a:p>
          <a:p>
            <a:pPr marL="203200" indent="-203200">
              <a:buSzPct val="100000"/>
              <a:buChar char="•"/>
            </a:pPr>
            <a:r>
              <a:rPr lang="es-ES" sz="2000" noProof="0" dirty="0">
                <a:solidFill>
                  <a:srgbClr val="233127"/>
                </a:solidFill>
              </a:rPr>
              <a:t>Brecha digital en el sector (muy envejecido).</a:t>
            </a:r>
          </a:p>
          <a:p>
            <a:pPr marL="203200" indent="-203200">
              <a:buSzPct val="100000"/>
              <a:buChar char="•"/>
            </a:pPr>
            <a:endParaRPr lang="es-ES" sz="2000" noProof="0" dirty="0">
              <a:solidFill>
                <a:srgbClr val="233127"/>
              </a:solidFill>
            </a:endParaRPr>
          </a:p>
          <a:p>
            <a:pPr marL="203200" indent="-203200">
              <a:buSzPct val="100000"/>
              <a:buChar char="•"/>
            </a:pPr>
            <a:r>
              <a:rPr lang="es-ES" sz="2000" noProof="0" dirty="0">
                <a:solidFill>
                  <a:srgbClr val="233127"/>
                </a:solidFill>
              </a:rPr>
              <a:t>Muchos ganaderos no consiguen llevar registros del ganado actualizados.</a:t>
            </a:r>
          </a:p>
          <a:p>
            <a:pPr marL="203200" indent="-203200">
              <a:buSzPct val="100000"/>
              <a:buChar char="•"/>
            </a:pPr>
            <a:endParaRPr lang="es-ES" sz="2000" noProof="0" dirty="0"/>
          </a:p>
          <a:p>
            <a:pPr marL="203200" indent="-203200">
              <a:buSzPct val="100000"/>
              <a:buChar char="•"/>
            </a:pPr>
            <a:r>
              <a:rPr lang="es-ES" sz="2000" noProof="0" dirty="0">
                <a:solidFill>
                  <a:srgbClr val="233127"/>
                </a:solidFill>
              </a:rPr>
              <a:t>El trabajo se sostiene con muy poco personal normalmente familiares.</a:t>
            </a:r>
          </a:p>
          <a:p>
            <a:pPr marL="203200" indent="-203200">
              <a:buSzPct val="100000"/>
              <a:buChar char="•"/>
            </a:pPr>
            <a:endParaRPr lang="es-ES" sz="2000" noProof="0" dirty="0"/>
          </a:p>
          <a:p>
            <a:pPr>
              <a:buSzPct val="100000"/>
            </a:pPr>
            <a:endParaRPr lang="es-ES" sz="20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5440680"/>
            <a:ext cx="106984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7" name="Text 5"/>
          <p:cNvSpPr/>
          <p:nvPr/>
        </p:nvSpPr>
        <p:spPr>
          <a:xfrm>
            <a:off x="960120" y="5614416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233127"/>
                </a:solidFill>
              </a:rPr>
              <a:t>La idea nace de esa necesidad: crear una base digital clara, simple y útil para organizar información que hoy muchas explotaciones no pueden manejar bien.</a:t>
            </a:r>
            <a:endParaRPr lang="es-ES" sz="1600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64008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 err="1">
                <a:solidFill>
                  <a:srgbClr val="5F6F63"/>
                </a:solidFill>
              </a:rPr>
              <a:t>RumiAndo</a:t>
            </a:r>
            <a:r>
              <a:rPr lang="es-ES" sz="1000" noProof="0" dirty="0">
                <a:solidFill>
                  <a:srgbClr val="5F6F63"/>
                </a:solidFill>
              </a:rPr>
              <a:t> · Demo académica en </a:t>
            </a:r>
            <a:r>
              <a:rPr lang="es-ES" sz="1000" noProof="0" dirty="0" err="1">
                <a:solidFill>
                  <a:srgbClr val="5F6F63"/>
                </a:solidFill>
              </a:rPr>
              <a:t>React</a:t>
            </a:r>
            <a:endParaRPr lang="es-ES" sz="1000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E4515F5C-FCA7-4847-8DAB-2A037881BD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712" y="777240"/>
            <a:ext cx="4237008" cy="4237008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1C96C-466B-F821-402A-4762DA801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2AFF39DD-7685-EA97-3C7E-0975E966D1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8712" y="777240"/>
            <a:ext cx="4237008" cy="4237008"/>
          </a:xfrm>
          <a:prstGeom prst="rect">
            <a:avLst/>
          </a:prstGeom>
          <a:effectLst>
            <a:softEdge rad="127000"/>
          </a:effectLst>
        </p:spPr>
      </p:pic>
      <p:sp>
        <p:nvSpPr>
          <p:cNvPr id="2" name="Shape 0">
            <a:extLst>
              <a:ext uri="{FF2B5EF4-FFF2-40B4-BE49-F238E27FC236}">
                <a16:creationId xmlns:a16="http://schemas.microsoft.com/office/drawing/2014/main" id="{32B3C260-81D0-8472-2996-3F34B06E143A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F6B4B">
              <a:alpha val="0"/>
            </a:srgbClr>
          </a:solidFill>
          <a:ln w="12700">
            <a:solidFill>
              <a:srgbClr val="3F6B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22E4473-1631-88D7-BAA5-0B97E72474F9}"/>
              </a:ext>
            </a:extLst>
          </p:cNvPr>
          <p:cNvSpPr/>
          <p:nvPr/>
        </p:nvSpPr>
        <p:spPr>
          <a:xfrm>
            <a:off x="594360" y="4114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noProof="0" dirty="0">
                <a:solidFill>
                  <a:srgbClr val="3F6B4B"/>
                </a:solidFill>
              </a:rPr>
              <a:t>PUNTO DE PARTIDA</a:t>
            </a:r>
            <a:endParaRPr lang="es-ES" sz="11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49BD309-945B-381D-61FC-D507C78DF0F3}"/>
              </a:ext>
            </a:extLst>
          </p:cNvPr>
          <p:cNvSpPr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233127"/>
                </a:solidFill>
              </a:rPr>
              <a:t>El problema que intenta abordar</a:t>
            </a:r>
            <a:endParaRPr lang="es-ES" sz="2800" noProof="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CA0AA22-7A67-B1CB-0BE8-BF08D8738B3D}"/>
              </a:ext>
            </a:extLst>
          </p:cNvPr>
          <p:cNvSpPr/>
          <p:nvPr/>
        </p:nvSpPr>
        <p:spPr>
          <a:xfrm>
            <a:off x="731520" y="2057400"/>
            <a:ext cx="6281755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FontTx/>
              <a:buChar char="•"/>
            </a:pPr>
            <a:r>
              <a:rPr lang="es-ES" sz="2000" dirty="0">
                <a:solidFill>
                  <a:srgbClr val="233127"/>
                </a:solidFill>
              </a:rPr>
              <a:t>Gestionar un ganado vivo es complejo: movimientos, sanidad, reproducción, lotes, incidencias y decisiones diarias que quedan sin registrar.</a:t>
            </a:r>
          </a:p>
          <a:p>
            <a:pPr marL="203200" indent="-203200">
              <a:buSzPct val="100000"/>
              <a:buChar char="•"/>
            </a:pPr>
            <a:endParaRPr lang="es-ES" sz="2000" noProof="0" dirty="0">
              <a:solidFill>
                <a:srgbClr val="233127"/>
              </a:solidFill>
            </a:endParaRPr>
          </a:p>
          <a:p>
            <a:pPr marL="203200" indent="-203200">
              <a:buSzPct val="100000"/>
              <a:buChar char="•"/>
            </a:pPr>
            <a:r>
              <a:rPr lang="es-ES" sz="2000" noProof="0" dirty="0">
                <a:solidFill>
                  <a:srgbClr val="233127"/>
                </a:solidFill>
              </a:rPr>
              <a:t>Gran parte del manejo sigue basándose en experiencia e intuición heredada, no en información contrastada.</a:t>
            </a:r>
          </a:p>
          <a:p>
            <a:pPr marL="203200" indent="-203200">
              <a:buSzPct val="100000"/>
              <a:buChar char="•"/>
            </a:pPr>
            <a:endParaRPr lang="es-ES" sz="2000" noProof="0" dirty="0"/>
          </a:p>
          <a:p>
            <a:pPr marL="203200" indent="-203200">
              <a:buSzPct val="100000"/>
              <a:buChar char="•"/>
            </a:pPr>
            <a:endParaRPr lang="es-ES" sz="2000" noProof="0" dirty="0">
              <a:solidFill>
                <a:srgbClr val="233127"/>
              </a:solidFill>
            </a:endParaRPr>
          </a:p>
          <a:p>
            <a:pPr marL="203200" indent="-203200">
              <a:buSzPct val="100000"/>
              <a:buChar char="•"/>
            </a:pPr>
            <a:endParaRPr lang="es-ES" sz="2000" noProof="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67564C6-1653-1A63-97A9-B4FE3BDCF7DD}"/>
              </a:ext>
            </a:extLst>
          </p:cNvPr>
          <p:cNvSpPr/>
          <p:nvPr/>
        </p:nvSpPr>
        <p:spPr>
          <a:xfrm>
            <a:off x="777240" y="5440680"/>
            <a:ext cx="10698480" cy="64008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0B79CD1-8610-360F-8F94-482ECE1D0D95}"/>
              </a:ext>
            </a:extLst>
          </p:cNvPr>
          <p:cNvSpPr/>
          <p:nvPr/>
        </p:nvSpPr>
        <p:spPr>
          <a:xfrm>
            <a:off x="960120" y="5614416"/>
            <a:ext cx="10241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s-ES" sz="1600" b="1" noProof="0" dirty="0">
                <a:solidFill>
                  <a:srgbClr val="233127"/>
                </a:solidFill>
              </a:rPr>
              <a:t>La idea nace de esa necesidad: crear una base digital clara, simple y útil para organizar información que hoy muchas explotaciones no pueden manejar bien.</a:t>
            </a:r>
            <a:endParaRPr lang="es-ES" sz="1600" noProof="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DE8BE97B-5F69-FE42-05DA-76A297A5F375}"/>
              </a:ext>
            </a:extLst>
          </p:cNvPr>
          <p:cNvSpPr/>
          <p:nvPr/>
        </p:nvSpPr>
        <p:spPr>
          <a:xfrm>
            <a:off x="594360" y="64008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 err="1">
                <a:solidFill>
                  <a:srgbClr val="5F6F63"/>
                </a:solidFill>
              </a:rPr>
              <a:t>RumiAndo</a:t>
            </a:r>
            <a:r>
              <a:rPr lang="es-ES" sz="1000" noProof="0" dirty="0">
                <a:solidFill>
                  <a:srgbClr val="5F6F63"/>
                </a:solidFill>
              </a:rPr>
              <a:t> · Demo académica en </a:t>
            </a:r>
            <a:r>
              <a:rPr lang="es-ES" sz="1000" noProof="0" dirty="0" err="1">
                <a:solidFill>
                  <a:srgbClr val="5F6F63"/>
                </a:solidFill>
              </a:rPr>
              <a:t>React</a:t>
            </a:r>
            <a:endParaRPr lang="es-ES" sz="1000" noProof="0" dirty="0"/>
          </a:p>
        </p:txBody>
      </p:sp>
    </p:spTree>
    <p:extLst>
      <p:ext uri="{BB962C8B-B14F-4D97-AF65-F5344CB8AC3E}">
        <p14:creationId xmlns:p14="http://schemas.microsoft.com/office/powerpoint/2010/main" val="2154450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F6B4B">
              <a:alpha val="0"/>
            </a:srgbClr>
          </a:solidFill>
          <a:ln w="12700">
            <a:solidFill>
              <a:srgbClr val="3F6B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4114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noProof="0" dirty="0">
                <a:solidFill>
                  <a:srgbClr val="3F6B4B"/>
                </a:solidFill>
              </a:rPr>
              <a:t>ENFOQUE</a:t>
            </a:r>
            <a:endParaRPr lang="es-ES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233127"/>
                </a:solidFill>
              </a:rPr>
              <a:t>Objetivo del proyecto</a:t>
            </a:r>
            <a:endParaRPr lang="es-ES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640080" y="155448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" name="Shape 4"/>
          <p:cNvSpPr/>
          <p:nvPr/>
        </p:nvSpPr>
        <p:spPr>
          <a:xfrm>
            <a:off x="6172200" y="1554480"/>
            <a:ext cx="5394960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7" name="Text 5"/>
          <p:cNvSpPr/>
          <p:nvPr/>
        </p:nvSpPr>
        <p:spPr>
          <a:xfrm>
            <a:off x="91440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000" b="1" noProof="0" dirty="0">
                <a:solidFill>
                  <a:srgbClr val="233127"/>
                </a:solidFill>
              </a:rPr>
              <a:t>Objetivo académico</a:t>
            </a:r>
            <a:endParaRPr lang="es-E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914400" y="2003916"/>
            <a:ext cx="4572000" cy="17451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s-ES" sz="1700" noProof="0" dirty="0">
                <a:solidFill>
                  <a:srgbClr val="5F6F63"/>
                </a:solidFill>
              </a:rPr>
              <a:t>Construir una demo web con </a:t>
            </a:r>
            <a:r>
              <a:rPr lang="es-ES" sz="1700" noProof="0" dirty="0" err="1">
                <a:solidFill>
                  <a:srgbClr val="5F6F63"/>
                </a:solidFill>
              </a:rPr>
              <a:t>React</a:t>
            </a:r>
            <a:r>
              <a:rPr lang="es-ES" sz="1700" noProof="0" dirty="0">
                <a:solidFill>
                  <a:srgbClr val="5F6F63"/>
                </a:solidFill>
              </a:rPr>
              <a:t> para integrar de forma práctica lo visto en clase: estructura modular, </a:t>
            </a:r>
            <a:r>
              <a:rPr lang="es-ES" sz="1700" noProof="0" dirty="0" err="1">
                <a:solidFill>
                  <a:srgbClr val="5F6F63"/>
                </a:solidFill>
              </a:rPr>
              <a:t>router</a:t>
            </a:r>
            <a:r>
              <a:rPr lang="es-ES" sz="1700" noProof="0" dirty="0">
                <a:solidFill>
                  <a:srgbClr val="5F6F63"/>
                </a:solidFill>
              </a:rPr>
              <a:t>, </a:t>
            </a:r>
            <a:r>
              <a:rPr lang="es-ES" sz="1700" noProof="0" dirty="0" err="1">
                <a:solidFill>
                  <a:srgbClr val="5F6F63"/>
                </a:solidFill>
              </a:rPr>
              <a:t>hooks</a:t>
            </a:r>
            <a:r>
              <a:rPr lang="es-ES" sz="1700" noProof="0" dirty="0">
                <a:solidFill>
                  <a:srgbClr val="5F6F63"/>
                </a:solidFill>
              </a:rPr>
              <a:t>, </a:t>
            </a:r>
            <a:r>
              <a:rPr lang="es-ES" sz="1700" noProof="0" dirty="0" err="1">
                <a:solidFill>
                  <a:srgbClr val="5F6F63"/>
                </a:solidFill>
              </a:rPr>
              <a:t>context</a:t>
            </a:r>
            <a:r>
              <a:rPr lang="es-ES" sz="1700" noProof="0" dirty="0">
                <a:solidFill>
                  <a:srgbClr val="5F6F63"/>
                </a:solidFill>
              </a:rPr>
              <a:t>, </a:t>
            </a:r>
            <a:r>
              <a:rPr lang="es-ES" sz="1700" noProof="0" dirty="0" err="1">
                <a:solidFill>
                  <a:srgbClr val="5F6F63"/>
                </a:solidFill>
              </a:rPr>
              <a:t>fetch</a:t>
            </a:r>
            <a:r>
              <a:rPr lang="es-ES" sz="1700" noProof="0" dirty="0">
                <a:solidFill>
                  <a:srgbClr val="5F6F63"/>
                </a:solidFill>
              </a:rPr>
              <a:t>, filtros, </a:t>
            </a:r>
            <a:r>
              <a:rPr lang="es-ES" sz="1700" noProof="0" dirty="0" err="1">
                <a:solidFill>
                  <a:srgbClr val="5F6F63"/>
                </a:solidFill>
              </a:rPr>
              <a:t>params</a:t>
            </a:r>
            <a:r>
              <a:rPr lang="es-ES" sz="1700" noProof="0" dirty="0">
                <a:solidFill>
                  <a:srgbClr val="5F6F63"/>
                </a:solidFill>
              </a:rPr>
              <a:t>, </a:t>
            </a:r>
            <a:r>
              <a:rPr lang="es-ES" sz="1700" noProof="0" dirty="0" err="1">
                <a:solidFill>
                  <a:srgbClr val="5F6F63"/>
                </a:solidFill>
              </a:rPr>
              <a:t>testing</a:t>
            </a:r>
            <a:r>
              <a:rPr lang="es-ES" sz="1700" noProof="0" dirty="0">
                <a:solidFill>
                  <a:srgbClr val="5F6F63"/>
                </a:solidFill>
              </a:rPr>
              <a:t> y estilos.</a:t>
            </a:r>
            <a:endParaRPr lang="es-ES" sz="1700" noProof="0" dirty="0"/>
          </a:p>
        </p:txBody>
      </p:sp>
      <p:sp>
        <p:nvSpPr>
          <p:cNvPr id="9" name="Text 7"/>
          <p:cNvSpPr/>
          <p:nvPr/>
        </p:nvSpPr>
        <p:spPr>
          <a:xfrm>
            <a:off x="6446520" y="1828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000" b="1" noProof="0" dirty="0">
                <a:solidFill>
                  <a:srgbClr val="233127"/>
                </a:solidFill>
              </a:rPr>
              <a:t>Objetivo funcional</a:t>
            </a:r>
            <a:endParaRPr lang="es-ES" sz="2000" noProof="0" dirty="0"/>
          </a:p>
        </p:txBody>
      </p:sp>
      <p:sp>
        <p:nvSpPr>
          <p:cNvPr id="10" name="Text 8"/>
          <p:cNvSpPr/>
          <p:nvPr/>
        </p:nvSpPr>
        <p:spPr>
          <a:xfrm>
            <a:off x="6537960" y="1903506"/>
            <a:ext cx="457200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s-ES" sz="1700" noProof="0" dirty="0">
                <a:solidFill>
                  <a:srgbClr val="5F6F63"/>
                </a:solidFill>
              </a:rPr>
              <a:t>Aprovechar el proyecto para empezar a diseñar algo útil y cercano a una necesidad real: una app ganadera que permita consultar animales, visualizar datos y preparar el camino hacia decisiones más asistidas con conocimientos veterinarios.</a:t>
            </a:r>
            <a:endParaRPr lang="es-ES" sz="1700" noProof="0" dirty="0"/>
          </a:p>
        </p:txBody>
      </p:sp>
      <p:sp>
        <p:nvSpPr>
          <p:cNvPr id="11" name="Text 9"/>
          <p:cNvSpPr/>
          <p:nvPr/>
        </p:nvSpPr>
        <p:spPr>
          <a:xfrm>
            <a:off x="594360" y="64008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 err="1">
                <a:solidFill>
                  <a:srgbClr val="5F6F63"/>
                </a:solidFill>
              </a:rPr>
              <a:t>RumiAndo</a:t>
            </a:r>
            <a:r>
              <a:rPr lang="es-ES" sz="1000" noProof="0" dirty="0">
                <a:solidFill>
                  <a:srgbClr val="5F6F63"/>
                </a:solidFill>
              </a:rPr>
              <a:t> · Demo académica en </a:t>
            </a:r>
            <a:r>
              <a:rPr lang="es-ES" sz="1000" noProof="0" dirty="0" err="1">
                <a:solidFill>
                  <a:srgbClr val="5F6F63"/>
                </a:solidFill>
              </a:rPr>
              <a:t>React</a:t>
            </a:r>
            <a:endParaRPr lang="es-ES" sz="1000" noProof="0" dirty="0"/>
          </a:p>
        </p:txBody>
      </p:sp>
      <p:pic>
        <p:nvPicPr>
          <p:cNvPr id="1028" name="Picture 4" descr="Los Mejores Bootcamps en España | Ironhack">
            <a:extLst>
              <a:ext uri="{FF2B5EF4-FFF2-40B4-BE49-F238E27FC236}">
                <a16:creationId xmlns:a16="http://schemas.microsoft.com/office/drawing/2014/main" id="{7AB042ED-8124-75A1-2B76-8380D0F6C8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3280" y="3732132"/>
            <a:ext cx="1614240" cy="1745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A148EEBE-D857-EC32-D53C-1B79DF45369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BF9F1"/>
              </a:clrFrom>
              <a:clrTo>
                <a:srgbClr val="FBF9F1">
                  <a:alpha val="0"/>
                </a:srgbClr>
              </a:clrTo>
            </a:clrChange>
          </a:blip>
          <a:srcRect t="11426"/>
          <a:stretch>
            <a:fillRect/>
          </a:stretch>
        </p:blipFill>
        <p:spPr>
          <a:xfrm>
            <a:off x="7603236" y="3732131"/>
            <a:ext cx="2532888" cy="22434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F6B4B">
              <a:alpha val="0"/>
            </a:srgbClr>
          </a:solidFill>
          <a:ln w="12700">
            <a:solidFill>
              <a:srgbClr val="3F6B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4114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noProof="0" dirty="0">
                <a:solidFill>
                  <a:srgbClr val="3F6B4B"/>
                </a:solidFill>
              </a:rPr>
              <a:t>ACLARACIÓN IMPORTANTE</a:t>
            </a:r>
            <a:endParaRPr lang="es-ES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233127"/>
                </a:solidFill>
              </a:rPr>
              <a:t>Qué es la web actual de </a:t>
            </a:r>
            <a:r>
              <a:rPr lang="es-ES" sz="2800" b="1" noProof="0" dirty="0" err="1">
                <a:solidFill>
                  <a:srgbClr val="233127"/>
                </a:solidFill>
              </a:rPr>
              <a:t>RumiAndo</a:t>
            </a:r>
            <a:endParaRPr lang="es-ES" sz="28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5677906" cy="42062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s-ES" sz="2000" noProof="0" dirty="0" err="1">
                <a:solidFill>
                  <a:srgbClr val="233127"/>
                </a:solidFill>
              </a:rPr>
              <a:t>RumiAndo</a:t>
            </a:r>
            <a:r>
              <a:rPr lang="es-ES" sz="2000" noProof="0" dirty="0">
                <a:solidFill>
                  <a:srgbClr val="233127"/>
                </a:solidFill>
              </a:rPr>
              <a:t> se plantea como una demo académica y no como un producto final, aunque su interfaz y comunicación se han diseñado con un enfoque promocional para simular una presentación real del producto.</a:t>
            </a:r>
          </a:p>
        </p:txBody>
      </p:sp>
      <p:sp>
        <p:nvSpPr>
          <p:cNvPr id="9" name="Text 7"/>
          <p:cNvSpPr/>
          <p:nvPr/>
        </p:nvSpPr>
        <p:spPr>
          <a:xfrm>
            <a:off x="594360" y="64008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 err="1">
                <a:solidFill>
                  <a:srgbClr val="5F6F63"/>
                </a:solidFill>
              </a:rPr>
              <a:t>RumiAndo</a:t>
            </a:r>
            <a:r>
              <a:rPr lang="es-ES" sz="1000" noProof="0" dirty="0">
                <a:solidFill>
                  <a:srgbClr val="5F6F63"/>
                </a:solidFill>
              </a:rPr>
              <a:t> · Demo académica en </a:t>
            </a:r>
            <a:r>
              <a:rPr lang="es-ES" sz="1000" noProof="0" dirty="0" err="1">
                <a:solidFill>
                  <a:srgbClr val="5F6F63"/>
                </a:solidFill>
              </a:rPr>
              <a:t>React</a:t>
            </a:r>
            <a:endParaRPr lang="es-ES" sz="1000" noProof="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9362D422-2923-F2B0-4FAA-59A2266973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0481" y="3429000"/>
            <a:ext cx="1891156" cy="26370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93E6984F-22F2-E73A-4AAD-498D1C17384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5033"/>
          <a:stretch>
            <a:fillRect/>
          </a:stretch>
        </p:blipFill>
        <p:spPr>
          <a:xfrm>
            <a:off x="3865743" y="3429000"/>
            <a:ext cx="1891156" cy="263709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C822537-032A-9E3E-5B26-01096E1D22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35103" y="654744"/>
            <a:ext cx="5411352" cy="5411352"/>
          </a:xfrm>
          <a:prstGeom prst="rect">
            <a:avLst/>
          </a:prstGeom>
          <a:effectLst>
            <a:softEdge rad="127000"/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794294" y="3090335"/>
            <a:ext cx="12191695" cy="320040"/>
          </a:xfrm>
          <a:prstGeom prst="rect">
            <a:avLst/>
          </a:prstGeom>
          <a:solidFill>
            <a:srgbClr val="3F6B4B">
              <a:alpha val="0"/>
            </a:srgbClr>
          </a:solidFill>
          <a:ln w="12700">
            <a:solidFill>
              <a:srgbClr val="3F6B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4114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noProof="0" dirty="0">
                <a:solidFill>
                  <a:srgbClr val="3F6B4B"/>
                </a:solidFill>
              </a:rPr>
              <a:t>PARTE TÉCNICA</a:t>
            </a:r>
            <a:endParaRPr lang="es-ES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233127"/>
                </a:solidFill>
              </a:rPr>
              <a:t>Qué tecnologías y conceptos incorpora</a:t>
            </a:r>
            <a:endParaRPr lang="es-ES" sz="28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636776"/>
            <a:ext cx="8861054" cy="44805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FontTx/>
              <a:buChar char="•"/>
            </a:pPr>
            <a:r>
              <a:rPr lang="es-ES" sz="2000" dirty="0" err="1">
                <a:solidFill>
                  <a:srgbClr val="233127"/>
                </a:solidFill>
              </a:rPr>
              <a:t>Github</a:t>
            </a:r>
            <a:r>
              <a:rPr lang="es-ES" sz="2000" dirty="0">
                <a:solidFill>
                  <a:srgbClr val="233127"/>
                </a:solidFill>
              </a:rPr>
              <a:t> como controlador de versiones.</a:t>
            </a:r>
            <a:endParaRPr lang="es-ES" sz="2000" noProof="0" dirty="0"/>
          </a:p>
          <a:p>
            <a:pPr marL="203200" indent="-203200">
              <a:buSzPct val="100000"/>
              <a:buChar char="•"/>
            </a:pPr>
            <a:endParaRPr lang="es-ES" sz="2000" noProof="0" dirty="0"/>
          </a:p>
          <a:p>
            <a:pPr marL="203200" indent="-203200">
              <a:buSzPct val="100000"/>
              <a:buChar char="•"/>
            </a:pPr>
            <a:r>
              <a:rPr lang="es-ES" sz="2000" dirty="0" err="1">
                <a:solidFill>
                  <a:srgbClr val="233127"/>
                </a:solidFill>
              </a:rPr>
              <a:t>React</a:t>
            </a:r>
            <a:r>
              <a:rPr lang="es-ES" sz="2000" dirty="0">
                <a:solidFill>
                  <a:srgbClr val="233127"/>
                </a:solidFill>
              </a:rPr>
              <a:t> + Vite como base del proyecto.</a:t>
            </a:r>
          </a:p>
          <a:p>
            <a:pPr marL="203200" indent="-203200">
              <a:buSzPct val="100000"/>
              <a:buChar char="•"/>
            </a:pPr>
            <a:endParaRPr lang="es-ES" sz="2000" noProof="0" dirty="0"/>
          </a:p>
          <a:p>
            <a:pPr marL="203200" indent="-203200">
              <a:buSzPct val="100000"/>
              <a:buChar char="•"/>
            </a:pPr>
            <a:r>
              <a:rPr lang="es-ES" sz="2000" noProof="0" dirty="0">
                <a:solidFill>
                  <a:srgbClr val="233127"/>
                </a:solidFill>
              </a:rPr>
              <a:t>CSS global, clases reutilizables y responsive.</a:t>
            </a:r>
          </a:p>
          <a:p>
            <a:pPr marL="203200" indent="-203200">
              <a:buSzPct val="100000"/>
              <a:buChar char="•"/>
            </a:pPr>
            <a:endParaRPr lang="es-ES" sz="2000" dirty="0">
              <a:solidFill>
                <a:srgbClr val="233127"/>
              </a:solidFill>
            </a:endParaRPr>
          </a:p>
          <a:p>
            <a:pPr marL="203200" indent="-203200">
              <a:buSzPct val="100000"/>
              <a:buChar char="•"/>
            </a:pPr>
            <a:r>
              <a:rPr lang="es-ES" sz="2000" dirty="0">
                <a:solidFill>
                  <a:srgbClr val="233127"/>
                </a:solidFill>
              </a:rPr>
              <a:t>JavaScript como base de la lógica, la interactividad y el tratamiento de datos de la aplicación.</a:t>
            </a:r>
          </a:p>
          <a:p>
            <a:pPr marL="203200" indent="-203200">
              <a:buSzPct val="100000"/>
              <a:buChar char="•"/>
            </a:pPr>
            <a:endParaRPr lang="es-ES" sz="2000" dirty="0">
              <a:solidFill>
                <a:srgbClr val="233127"/>
              </a:solidFill>
            </a:endParaRPr>
          </a:p>
          <a:p>
            <a:pPr marL="203200" indent="-203200">
              <a:buSzPct val="100000"/>
              <a:buChar char="•"/>
            </a:pPr>
            <a:r>
              <a:rPr lang="es-ES" sz="2000" noProof="0" dirty="0" err="1">
                <a:solidFill>
                  <a:srgbClr val="233127"/>
                </a:solidFill>
              </a:rPr>
              <a:t>ChatGPT</a:t>
            </a:r>
            <a:r>
              <a:rPr lang="es-ES" sz="2000" noProof="0" dirty="0">
                <a:solidFill>
                  <a:srgbClr val="233127"/>
                </a:solidFill>
              </a:rPr>
              <a:t> como herramienta de apoyo en la resolución de dudas, depuración de errores, revisión técnica y creación de imágenes, siempre con supervisión y adaptación manual. </a:t>
            </a:r>
            <a:endParaRPr lang="es-ES" sz="2000" noProof="0" dirty="0"/>
          </a:p>
        </p:txBody>
      </p:sp>
      <p:sp>
        <p:nvSpPr>
          <p:cNvPr id="6" name="Text 4"/>
          <p:cNvSpPr/>
          <p:nvPr/>
        </p:nvSpPr>
        <p:spPr>
          <a:xfrm>
            <a:off x="594360" y="64008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 err="1">
                <a:solidFill>
                  <a:srgbClr val="5F6F63"/>
                </a:solidFill>
              </a:rPr>
              <a:t>RumiAndo</a:t>
            </a:r>
            <a:r>
              <a:rPr lang="es-ES" sz="1000" noProof="0" dirty="0">
                <a:solidFill>
                  <a:srgbClr val="5F6F63"/>
                </a:solidFill>
              </a:rPr>
              <a:t> · Demo académica en </a:t>
            </a:r>
            <a:r>
              <a:rPr lang="es-ES" sz="1000" noProof="0" dirty="0" err="1">
                <a:solidFill>
                  <a:srgbClr val="5F6F63"/>
                </a:solidFill>
              </a:rPr>
              <a:t>React</a:t>
            </a:r>
            <a:endParaRPr lang="es-ES" sz="1000" noProof="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DDC4F92-EBA0-3E67-0C2E-AD13DCEA7F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3634" y="1408179"/>
            <a:ext cx="1084766" cy="96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javascript logo png, javascript icon transparent png 27127463 PNG">
            <a:extLst>
              <a:ext uri="{FF2B5EF4-FFF2-40B4-BE49-F238E27FC236}">
                <a16:creationId xmlns:a16="http://schemas.microsoft.com/office/drawing/2014/main" id="{5B55BAE2-ECF9-18B7-1AE9-5CA529DD39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692" y="3827279"/>
            <a:ext cx="1250651" cy="125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THE NEW CHATGPT ICON BLACK PNG 2026 - eDigital Agency">
            <a:extLst>
              <a:ext uri="{FF2B5EF4-FFF2-40B4-BE49-F238E27FC236}">
                <a16:creationId xmlns:a16="http://schemas.microsoft.com/office/drawing/2014/main" id="{E47A6E96-2756-3D34-B003-D0F724911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3403" y="5179539"/>
            <a:ext cx="965229" cy="965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ss3 - Icono gratis PNG, SVG">
            <a:extLst>
              <a:ext uri="{FF2B5EF4-FFF2-40B4-BE49-F238E27FC236}">
                <a16:creationId xmlns:a16="http://schemas.microsoft.com/office/drawing/2014/main" id="{37F938B9-320D-7F0B-66CE-BEF23F0DC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0692" y="2475018"/>
            <a:ext cx="1250651" cy="1250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6" name="Picture 14" descr="Logo - Brand Toolkit">
            <a:extLst>
              <a:ext uri="{FF2B5EF4-FFF2-40B4-BE49-F238E27FC236}">
                <a16:creationId xmlns:a16="http://schemas.microsoft.com/office/drawing/2014/main" id="{E1B37ED0-AE1E-D49F-51A7-EF32F1331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06799" y="601824"/>
            <a:ext cx="1898436" cy="704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F6B4B">
              <a:alpha val="0"/>
            </a:srgbClr>
          </a:solidFill>
          <a:ln w="12700">
            <a:solidFill>
              <a:srgbClr val="3F6B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4114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noProof="0" dirty="0">
                <a:solidFill>
                  <a:srgbClr val="3F6B4B"/>
                </a:solidFill>
              </a:rPr>
              <a:t>PROYECTO FINAL</a:t>
            </a:r>
            <a:endParaRPr lang="es-ES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233127"/>
                </a:solidFill>
              </a:rPr>
              <a:t>Hacia dónde quiero llevarlo</a:t>
            </a:r>
            <a:endParaRPr lang="es-ES" sz="28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1600200"/>
            <a:ext cx="10789920" cy="43891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t"/>
          <a:lstStyle/>
          <a:p>
            <a:pPr marL="203200" indent="-203200">
              <a:buSzPct val="100000"/>
              <a:buChar char="•"/>
            </a:pPr>
            <a:r>
              <a:rPr lang="es-ES" sz="2000" noProof="0" dirty="0">
                <a:solidFill>
                  <a:srgbClr val="233127"/>
                </a:solidFill>
              </a:rPr>
              <a:t>Mi idea final no es solo “llevar el ganado” con un lector RFID y un móvil, sino unificar lo aprendido en el curso con conocimientos veterinarios para crear una herramienta realmente útil.</a:t>
            </a:r>
          </a:p>
          <a:p>
            <a:pPr marL="203200" indent="-203200">
              <a:buSzPct val="100000"/>
              <a:buChar char="•"/>
            </a:pPr>
            <a:endParaRPr lang="es-ES" sz="2000" noProof="0" dirty="0"/>
          </a:p>
          <a:p>
            <a:pPr marL="203200" indent="-203200">
              <a:buSzPct val="100000"/>
              <a:buChar char="•"/>
            </a:pPr>
            <a:r>
              <a:rPr lang="es-ES" sz="2000" noProof="0" dirty="0">
                <a:solidFill>
                  <a:srgbClr val="233127"/>
                </a:solidFill>
              </a:rPr>
              <a:t>Quiero evolucionarlo hacia una app que, en base a los datos recogidos, ayude a tomar decisiones y sugiera acciones coordinadas.</a:t>
            </a:r>
          </a:p>
          <a:p>
            <a:pPr marL="203200" indent="-203200">
              <a:buSzPct val="100000"/>
              <a:buChar char="•"/>
            </a:pPr>
            <a:endParaRPr lang="es-ES" sz="2000" noProof="0" dirty="0"/>
          </a:p>
          <a:p>
            <a:pPr marL="203200" indent="-203200">
              <a:buSzPct val="100000"/>
              <a:buChar char="•"/>
            </a:pPr>
            <a:r>
              <a:rPr lang="es-ES" sz="2000" noProof="0" dirty="0">
                <a:solidFill>
                  <a:srgbClr val="233127"/>
                </a:solidFill>
              </a:rPr>
              <a:t>A futuro tendría sentido incorporar recordatorios, alertas automáticas, agentes IA y flujos más inteligentes de seguimiento, con las herramientas que nos mostraron en la presentación </a:t>
            </a:r>
            <a:r>
              <a:rPr lang="es-ES" sz="2000" dirty="0">
                <a:solidFill>
                  <a:srgbClr val="233127"/>
                </a:solidFill>
              </a:rPr>
              <a:t>del </a:t>
            </a:r>
            <a:r>
              <a:rPr lang="es-ES" sz="2000" dirty="0" err="1">
                <a:solidFill>
                  <a:srgbClr val="233127"/>
                </a:solidFill>
              </a:rPr>
              <a:t>bootcamp</a:t>
            </a:r>
            <a:r>
              <a:rPr lang="es-ES" sz="2000" noProof="0" dirty="0">
                <a:solidFill>
                  <a:srgbClr val="233127"/>
                </a:solidFill>
              </a:rPr>
              <a:t>.</a:t>
            </a:r>
          </a:p>
          <a:p>
            <a:pPr marL="203200" indent="-203200">
              <a:buSzPct val="100000"/>
              <a:buChar char="•"/>
            </a:pPr>
            <a:endParaRPr lang="es-ES" sz="2000" noProof="0" dirty="0"/>
          </a:p>
          <a:p>
            <a:pPr marL="203200" indent="-203200">
              <a:buSzPct val="100000"/>
              <a:buChar char="•"/>
            </a:pPr>
            <a:r>
              <a:rPr lang="es-ES" sz="2000" noProof="0" dirty="0">
                <a:solidFill>
                  <a:srgbClr val="233127"/>
                </a:solidFill>
              </a:rPr>
              <a:t>La demo actual es el primer paso: estructura, datos, visualización y base técnica para crecer.</a:t>
            </a:r>
            <a:endParaRPr lang="es-ES" sz="2000" noProof="0" dirty="0"/>
          </a:p>
        </p:txBody>
      </p:sp>
      <p:sp>
        <p:nvSpPr>
          <p:cNvPr id="8" name="Text 6"/>
          <p:cNvSpPr/>
          <p:nvPr/>
        </p:nvSpPr>
        <p:spPr>
          <a:xfrm>
            <a:off x="594360" y="64008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000" noProof="0" dirty="0" err="1">
                <a:solidFill>
                  <a:srgbClr val="5F6F63"/>
                </a:solidFill>
              </a:rPr>
              <a:t>RumiAndo</a:t>
            </a:r>
            <a:r>
              <a:rPr lang="es-ES" sz="1000" noProof="0" dirty="0">
                <a:solidFill>
                  <a:srgbClr val="5F6F63"/>
                </a:solidFill>
              </a:rPr>
              <a:t> · Demo académica en </a:t>
            </a:r>
            <a:r>
              <a:rPr lang="es-ES" sz="1000" noProof="0" dirty="0" err="1">
                <a:solidFill>
                  <a:srgbClr val="5F6F63"/>
                </a:solidFill>
              </a:rPr>
              <a:t>React</a:t>
            </a:r>
            <a:endParaRPr lang="es-ES" sz="10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F6B4B">
              <a:alpha val="0"/>
            </a:srgbClr>
          </a:solidFill>
          <a:ln w="12700">
            <a:solidFill>
              <a:srgbClr val="3F6B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/>
          <p:cNvSpPr/>
          <p:nvPr/>
        </p:nvSpPr>
        <p:spPr>
          <a:xfrm>
            <a:off x="594360" y="4114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noProof="0" dirty="0">
                <a:solidFill>
                  <a:srgbClr val="3F6B4B"/>
                </a:solidFill>
              </a:rPr>
              <a:t>DEMO</a:t>
            </a:r>
            <a:endParaRPr lang="es-ES" sz="1100" noProof="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ES" sz="2800" b="1" noProof="0" dirty="0">
                <a:solidFill>
                  <a:srgbClr val="233127"/>
                </a:solidFill>
              </a:rPr>
              <a:t>Demo en vivo</a:t>
            </a:r>
            <a:endParaRPr lang="es-ES" sz="2800" noProof="0" dirty="0"/>
          </a:p>
        </p:txBody>
      </p:sp>
      <p:sp>
        <p:nvSpPr>
          <p:cNvPr id="5" name="Shape 3"/>
          <p:cNvSpPr/>
          <p:nvPr/>
        </p:nvSpPr>
        <p:spPr>
          <a:xfrm>
            <a:off x="914400" y="1737360"/>
            <a:ext cx="1033272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9D3C4"/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6" name="Text 4"/>
          <p:cNvSpPr/>
          <p:nvPr/>
        </p:nvSpPr>
        <p:spPr>
          <a:xfrm>
            <a:off x="1280160" y="2148840"/>
            <a:ext cx="481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2200" b="1" noProof="0" dirty="0">
                <a:solidFill>
                  <a:srgbClr val="3F6B4B"/>
                </a:solidFill>
              </a:rPr>
              <a:t>Enlace a la demo</a:t>
            </a:r>
            <a:endParaRPr lang="es-ES" sz="2200" noProof="0" dirty="0"/>
          </a:p>
        </p:txBody>
      </p:sp>
      <p:sp>
        <p:nvSpPr>
          <p:cNvPr id="7" name="Text 5"/>
          <p:cNvSpPr/>
          <p:nvPr/>
        </p:nvSpPr>
        <p:spPr>
          <a:xfrm>
            <a:off x="1280160" y="2793492"/>
            <a:ext cx="8686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4000" b="1" u="sng" dirty="0">
                <a:solidFill>
                  <a:srgbClr val="0563C1"/>
                </a:solidFill>
                <a:hlinkClick r:id="rId3"/>
              </a:rPr>
              <a:t>https://rumiandoweb.netlify.app/</a:t>
            </a:r>
            <a:endParaRPr lang="es-ES" sz="4000" noProof="0" dirty="0"/>
          </a:p>
        </p:txBody>
      </p:sp>
      <p:sp>
        <p:nvSpPr>
          <p:cNvPr id="9" name="Text 7"/>
          <p:cNvSpPr/>
          <p:nvPr/>
        </p:nvSpPr>
        <p:spPr>
          <a:xfrm>
            <a:off x="594360" y="64008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000" noProof="0" dirty="0" err="1">
                <a:solidFill>
                  <a:srgbClr val="5F6F63"/>
                </a:solidFill>
              </a:rPr>
              <a:t>RumiAndo</a:t>
            </a:r>
            <a:r>
              <a:rPr lang="es-ES" sz="1000" noProof="0" dirty="0">
                <a:solidFill>
                  <a:srgbClr val="5F6F63"/>
                </a:solidFill>
              </a:rPr>
              <a:t> · Demo académica en </a:t>
            </a:r>
            <a:r>
              <a:rPr lang="es-ES" sz="1000" noProof="0" dirty="0" err="1">
                <a:solidFill>
                  <a:srgbClr val="5F6F63"/>
                </a:solidFill>
              </a:rPr>
              <a:t>React</a:t>
            </a:r>
            <a:endParaRPr lang="es-ES" sz="1000" noProof="0" dirty="0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0915526-5ECE-2020-9AE1-6480FF4B9FD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9F4EE"/>
              </a:clrFrom>
              <a:clrTo>
                <a:srgbClr val="F9F4EE">
                  <a:alpha val="0"/>
                </a:srgbClr>
              </a:clrTo>
            </a:clrChange>
          </a:blip>
          <a:srcRect l="28213" r="31551" b="16390"/>
          <a:stretch>
            <a:fillRect/>
          </a:stretch>
        </p:blipFill>
        <p:spPr>
          <a:xfrm rot="1180506">
            <a:off x="9178911" y="525677"/>
            <a:ext cx="1166214" cy="24233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46A3F-7A7A-8B3F-F774-C00275E2B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C549755-0F26-133F-142D-B434426765E7}"/>
              </a:ext>
            </a:extLst>
          </p:cNvPr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3F6B4B">
              <a:alpha val="0"/>
            </a:srgbClr>
          </a:solidFill>
          <a:ln w="12700">
            <a:solidFill>
              <a:srgbClr val="3F6B4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ES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F9FAC61-6D5D-1196-C57A-8C271E4EF055}"/>
              </a:ext>
            </a:extLst>
          </p:cNvPr>
          <p:cNvSpPr/>
          <p:nvPr/>
        </p:nvSpPr>
        <p:spPr>
          <a:xfrm>
            <a:off x="594360" y="41148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s-ES" sz="1100" b="1" noProof="0" dirty="0">
                <a:solidFill>
                  <a:srgbClr val="3F6B4B"/>
                </a:solidFill>
              </a:rPr>
              <a:t>CIERRE</a:t>
            </a:r>
            <a:endParaRPr lang="es-ES" sz="1100" noProof="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A3BEC7B-2E9E-6B37-DA5C-7659F8B7FB9A}"/>
              </a:ext>
            </a:extLst>
          </p:cNvPr>
          <p:cNvSpPr/>
          <p:nvPr/>
        </p:nvSpPr>
        <p:spPr>
          <a:xfrm>
            <a:off x="594360" y="713231"/>
            <a:ext cx="10972800" cy="15986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ES" sz="7200" b="1" noProof="0" dirty="0">
                <a:solidFill>
                  <a:srgbClr val="233127"/>
                </a:solidFill>
              </a:rPr>
              <a:t>MUCHAS GRACIAS</a:t>
            </a:r>
            <a:endParaRPr lang="es-ES" sz="7200" noProof="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3B21BFA-56BD-F06C-83B3-FB1C869641FF}"/>
              </a:ext>
            </a:extLst>
          </p:cNvPr>
          <p:cNvSpPr/>
          <p:nvPr/>
        </p:nvSpPr>
        <p:spPr>
          <a:xfrm>
            <a:off x="594360" y="6400800"/>
            <a:ext cx="5943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s-ES" sz="1000" noProof="0" dirty="0" err="1">
                <a:solidFill>
                  <a:srgbClr val="5F6F63"/>
                </a:solidFill>
              </a:rPr>
              <a:t>RumiAndo</a:t>
            </a:r>
            <a:r>
              <a:rPr lang="es-ES" sz="1000" noProof="0" dirty="0">
                <a:solidFill>
                  <a:srgbClr val="5F6F63"/>
                </a:solidFill>
              </a:rPr>
              <a:t> · Demo académica en </a:t>
            </a:r>
            <a:r>
              <a:rPr lang="es-ES" sz="1000" noProof="0" dirty="0" err="1">
                <a:solidFill>
                  <a:srgbClr val="5F6F63"/>
                </a:solidFill>
              </a:rPr>
              <a:t>React</a:t>
            </a:r>
            <a:endParaRPr lang="es-ES" sz="1000" noProof="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4B4B961D-0667-269F-DFE3-29F9BD41046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0301" b="10834"/>
          <a:stretch>
            <a:fillRect/>
          </a:stretch>
        </p:blipFill>
        <p:spPr>
          <a:xfrm>
            <a:off x="5008095" y="2311877"/>
            <a:ext cx="2175812" cy="3726612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79687A2C-0D0C-931D-3A01-BB2554AFB6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68586" y="2311877"/>
            <a:ext cx="2794959" cy="3726612"/>
          </a:xfrm>
          <a:prstGeom prst="rect">
            <a:avLst/>
          </a:prstGeom>
          <a:effectLst>
            <a:softEdge rad="127000"/>
          </a:effectLst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6AC9E796-066F-E533-5003-1D8AB51FD42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28457" y="2311877"/>
            <a:ext cx="2794958" cy="3726611"/>
          </a:xfrm>
          <a:prstGeom prst="rect">
            <a:avLst/>
          </a:prstGeom>
          <a:effectLst>
            <a:softEdge rad="127000"/>
          </a:effectLst>
        </p:spPr>
      </p:pic>
    </p:spTree>
    <p:extLst>
      <p:ext uri="{BB962C8B-B14F-4D97-AF65-F5344CB8AC3E}">
        <p14:creationId xmlns:p14="http://schemas.microsoft.com/office/powerpoint/2010/main" val="264701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</TotalTime>
  <Words>565</Words>
  <Application>Microsoft Office PowerPoint</Application>
  <PresentationFormat>Panorámica</PresentationFormat>
  <Paragraphs>74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1" baseType="lpstr"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RumiAndo - Demo web</dc:title>
  <dc:subject>Presentación RumiAndo</dc:subject>
  <dc:creator>OpenAI</dc:creator>
  <cp:lastModifiedBy>Julian Muñoz-Quirós Manjavacas</cp:lastModifiedBy>
  <cp:revision>4</cp:revision>
  <dcterms:created xsi:type="dcterms:W3CDTF">2026-04-27T19:04:55Z</dcterms:created>
  <dcterms:modified xsi:type="dcterms:W3CDTF">2026-04-27T22:58:34Z</dcterms:modified>
</cp:coreProperties>
</file>